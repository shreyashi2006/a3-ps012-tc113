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D35CE666-9158-7396-2C2B-FCA281F1DC42}">
          <p14:sldIdLst>
            <p14:sldId id="256"/>
            <p14:sldId id="257"/>
            <p14:sldId id="258"/>
            <p14:sldId id="259"/>
          </p14:sldIdLst>
        </p14:section>
        <p14:section name="Solution" id="{F4988B50-CD5D-0F55-5CD9-E386DD1CCA90}">
          <p14:sldIdLst>
            <p14:sldId id="260"/>
            <p14:sldId id="261"/>
            <p14:sldId id="262"/>
            <p14:sldId id="263"/>
            <p14:sldId id="264"/>
          </p14:sldIdLst>
        </p14:section>
        <p14:section name="Close" id="{82EFDD98-372A-4F3F-BEE6-B6BF9157059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63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Shreyashi Chatterjee • Suman Mishra • A3-PS012-TC113 • AIORI Hackathon 3 • October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07040" y="365760"/>
            <a:ext cx="1097280" cy="32918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AIORI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Shreyashi Chatterjee • Suman Mishra • A3-PS012-TC113 • AIORI Hackathon 3 • October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ExposureLens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Advanced Internet Operations Research in India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A3-PS012-TC113  |  PS-012: Authorised DNS Resolver Exposure Assessment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chemeClr val="accent6"/>
                </a:solidFill>
              </a:rPr>
              <a:t>From "is it open?" to "how exposed is it?", measured safely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Shreyashi Chatterjee  |  Suman Mishra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Team A3-PS012-TC113 | AIORI Hackathon 3 | October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0" y="1645920"/>
            <a:ext cx="3474720" cy="3474720"/>
          </a:xfrm>
          <a:prstGeom prst="ellipse">
            <a:avLst/>
          </a:prstGeom>
          <a:solidFill>
            <a:srgbClr val="0B3A4A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2194560"/>
            <a:ext cx="2377440" cy="2377440"/>
          </a:xfrm>
          <a:prstGeom prst="ellipse">
            <a:avLst/>
          </a:prstGeom>
          <a:solidFill>
            <a:srgbClr val="0B3A4A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0" y="2743200"/>
            <a:ext cx="1280160" cy="128016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Abstract: Problem Description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67512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64008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 recursive resolvers answer anyone, so attackers use them as reflectors: a tiny spoofed query becomes a large response aimed at a victim (DDoS amplification).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yes/no check misses the real question: how exposed is each resolver? One that answers with 60 bytes is not the same risk as one that answers with 3,000.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Forwarders, caches and middleboxes fool flag-based checks; timeouts and SERVFAIL leave results inconclusive.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assessment itself must be safe: authorised targets only, bounded rate, no spoofing, no stress testing, and scored against known ground truth.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280160"/>
            <a:ext cx="429768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371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Our idea: ExposureLens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8745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Prove recursion from cache behaviour, test who can reach the resolver from two vantage points, measure amplification potential from single packets, and fuse it all into a ranked exposure score with a fix.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4480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0-100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3492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exposure score per resolver, ranked, with a remediation hint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Background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760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Recursion: a resolver walks root, TLD, then authoritative servers on behalf of clients [7]; authoritative servers should answer only for their own zones.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RFC 5358 (BCP 140): recursion must be limited to intended clients; open recursion enables reflection attacks [1].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Reflection needs spoofed source IPs, so ingress filtering (BCP 38) helps, but misconfigured resolvers remain a standing risk [8].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Today: forgotten home-router and IoT forwarders, default-config cloud VMs and attack-for-hire services keep the threat current.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51206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2084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Reachability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737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Can anyone reach it, or only intended clients?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×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0" y="2560320"/>
            <a:ext cx="51206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2084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Recursion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017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Does it really recurse and cache for them?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×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0" y="3840480"/>
            <a:ext cx="51206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Amplification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many bytes come back per byte sent?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5166360"/>
            <a:ext cx="51206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5166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Exposure = Reachability × Recursion × Amplification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Literature &amp; RFC Review</a:t>
            </a: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insight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we use it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RFC 5358 / BCP 140 [1]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Restrict recursion to intended clients; open recursion enables reflection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Our inside vs outside vantage test checks exactly this rule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Rossow, NDSS 2014 [2]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Quantifies amplification factors per protocol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We compute BAF from single-packet size probes; never replay floods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Kührer et al., USENIX Sec. 2014 [3]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Internet-wide scans of open resolvers and amplifiers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Inspires our risk ranking; we stay lab-scoped, no Internet scans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Schomp et al., IMC 2013 [4]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Forwarders and recursors behave differently; flags mislead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Motivates proof from cache behaviour, not flags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RFC 6891 [5], RFC 7766 [6]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EDNS(0) buffer sizes and DNS over TCP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Size-dependent amplification probes; TCP retry path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2"/>
          <p:cNvSpPr txBox="1"/>
          <p:nvPr/>
        </p:nvSpPr>
        <p:spPr>
          <a:xfrm>
            <a:off x="59436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5486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Gap we fill: </a:t>
            </a:r>
            <a:r>
              <a:rPr lang="en-US" sz="1500" dirty="0">
                <a:solidFill>
                  <a:schemeClr val="tx1"/>
                </a:solidFill>
              </a:rPr>
              <a:t>prior work finds open resolvers at Internet scale; we contribute a safe, lab-scoped way to rate how exposed each one is, scored against ground truth.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Proposed Solution: ExposureLens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344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Scope Guard: </a:t>
            </a:r>
            <a:r>
              <a:rPr lang="en-US" sz="1400" dirty="0">
                <a:solidFill>
                  <a:schemeClr val="tx1"/>
                </a:solidFill>
              </a:rPr>
              <a:t>signed allow-list, max 20 IPs, global cap 10 queries/s; anything else is refused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574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Liveness baseline: </a:t>
            </a:r>
            <a:r>
              <a:rPr lang="en-US" sz="1400" dirty="0">
                <a:solidFill>
                  <a:schemeClr val="tx1"/>
                </a:solidFill>
              </a:rPr>
              <a:t>in-zone query with RD=0 must return AA=1, proving the server is alive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803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Cache-behaviour proof: </a:t>
            </a:r>
            <a:r>
              <a:rPr lang="en-US" sz="1400" dirty="0">
                <a:solidFill>
                  <a:schemeClr val="tx1"/>
                </a:solidFill>
              </a:rPr>
              <a:t>a unique name in our zone (TTL 60), asked twice 2 s apart; a lower TTL and faster reply prove a recursing cache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03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Dual-vantage reach: </a:t>
            </a:r>
            <a:r>
              <a:rPr lang="en-US" sz="1400" dirty="0">
                <a:solidFill>
                  <a:schemeClr val="tx1"/>
                </a:solidFill>
              </a:rPr>
              <a:t>same test from an inside and an outside lab network; an answer to the outside vantage means open to anyone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5262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Amplification potential: </a:t>
            </a:r>
            <a:r>
              <a:rPr lang="en-US" sz="1400" dirty="0">
                <a:solidFill>
                  <a:schemeClr val="tx1"/>
                </a:solidFill>
              </a:rPr>
              <a:t>one query per EDNS size (512, 1232, 4096) for an oversized TXT set; BAF = response bytes ÷ query bytes, computed, never reflected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4406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3492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Fuse and score: </a:t>
            </a:r>
            <a:r>
              <a:rPr lang="en-US" sz="1400" dirty="0">
                <a:solidFill>
                  <a:schemeClr val="tx1"/>
                </a:solidFill>
              </a:rPr>
              <a:t>weighted evidence gives a label, a 0-100 exposure score and a fix hint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1234440"/>
            <a:ext cx="4572000" cy="493776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1325880"/>
            <a:ext cx="4389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scope.targets:   # &lt;=20, signed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limiter.acquire(t)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 = ask(t, zone, RD=0)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= ask(t, uniq(t), RD=1, V_OUT)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= ask(t, a.name, RD=1, V_OUT, 2s)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cached = b.ttl &lt; a.ttl and b.rtt &lt; a.rtt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inside = ask(t, uniq(t), RD=1, V_IN)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baf = max(size(ask(t, big, edns=e))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 qsize for e in (512,1232,4096))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 = classify(base,a,b,inside)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reach = a.answered   # outside vantage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= 100 * reach * cached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 (0.4 + 0.6*min(baf/50, 1))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closed or ACL-restricted -&gt; score 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Solution Optimization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Naive checker (before)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ExposureLens (after)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Evidence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RA flag or any reply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Cache-behaviour proof (TTL decay, latency) plus dual-vantage reach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False positives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Forwarders and cached answers counted as open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Unique names and a repeat pair separate real recursion from stale cache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Inconclusive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Timeouts and SERVFAIL left unresolved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Backoff retries, TCP fallback, 3-probe majority vote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Who can reach it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Not tested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Inside vs outside vantage: open to anyone, or limited to intended clients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One yes/no label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Label plus 0-100 exposure score and fix hint, ranked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Rate and safety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Fixed sleep; any IP can be probed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Token bucket, 10 qps cap, allow-list guard, no raw sockets, no spoofing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Reproducibility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Ad hoc runs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232E"/>
                          </a:solidFill>
                        </a:rPr>
                        <a:t>Seeded names, hashed run manifest, JSON + pcap evidence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Solution Architecture &amp; Design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Scope Guard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signed allow-list, max 20 IPs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Orchestrator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rate limiter, kill-switch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Probe Engine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liveness, cache pair, size probes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Vantage points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V-in (inside), V-out (outside)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31546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Lab DNS targets x20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open, ACL, refused, auth-only, lossy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31546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Lab Authoritative Zone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TTL-60 names, oversized TXT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1546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Evidence Collector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JSON + pcap, query log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546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Fusion Classifier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5 labels + confidence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9204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Exposure Scorer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0-100 score per resolver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489204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Fix-Hint Engine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maps findings to remediation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89204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Compare &amp; Report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confusion matrix, HTML/JSON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489204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labels.json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seeded ground truth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51760" y="187452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0" y="187452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0" y="187452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07040" y="2331720"/>
            <a:ext cx="0" cy="8229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8686800" y="361188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5669280" y="361188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2651760" y="361188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54480" y="4069080"/>
            <a:ext cx="0" cy="8229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51760" y="53492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0" y="53492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8686800" y="53492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Figure: system architecture (lab-only, authorised targets)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Data Flow Diagram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Operator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scope.yaml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P1 Validate &amp; Throttle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allow-list, token bucket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P2 Probe &amp; Capture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inside + outside vantage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141732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Lab DNS servers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20 seeded targets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1546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D2 Ground truth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labels.json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31546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D1 Evidence store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replies, timings, logs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31546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P3 Lab Authoritative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TTL names, big TXT, query log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9204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Mentor / reviewer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report + confusion matrix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89204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P5 Compare &amp; Report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HTML / JSON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89204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P4 Classify &amp; Score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label, 0-100 score, fix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51760" y="187452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65176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scope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87452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66928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paced plan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87452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68680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queries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07040" y="2331720"/>
            <a:ext cx="0" cy="8229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0698480" y="2560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upstream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8686800" y="361188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686800" y="3200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query log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331720"/>
            <a:ext cx="0" cy="8229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680960" y="2560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raw replies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4069080"/>
            <a:ext cx="0" cy="8229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680960" y="4297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evidence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H="1">
            <a:off x="5669280" y="53492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669280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scores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4069080"/>
            <a:ext cx="0" cy="8229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663440" y="4297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labels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flipH="1">
            <a:off x="2651760" y="53492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2651760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report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Figure: Data Flow Diagram (DFD)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Deployment Timeline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Lab &amp; ground truth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lab of 20 BIND, Unbound and Knot servers: open, ACL, refused, auth-only, lossy. Two vantage networks; labels.json.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240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036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Probe &amp; cache proof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256032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dnspython engine, lab zone with TTL-60 names and oversized TXT, repeat-pair cache test, query logging.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240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6636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Reach &amp; amplification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56032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Inside and outside runs, EDNS size probes, TCP fallback, token bucket, kill-switch.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240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5236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52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 &amp; evaluate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56032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Fusion classifier, 0-100 score, fix hints, confusion matrix, rank correlation.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1783080"/>
            <a:ext cx="2103120" cy="27889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383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2240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3836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38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Repo, PDF &amp; demo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256032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Private repo hand-off, PDF in the prescribed structure, live demo and pseudocode.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451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Methodology: 5 gated phases; every gate is an automated run against the seeded ground truth.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≥95%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715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label agreement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74320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≥0.9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2743200" y="5715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score rank correlation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&lt;5%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0" y="5715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inconclusive after retries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31520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</a:t>
            </a:r>
            <a:endParaRPr lang="en-US" sz="2600" dirty="0"/>
          </a:p>
        </p:txBody>
      </p:sp>
      <p:sp>
        <p:nvSpPr>
          <p:cNvPr id="47" name="Text 45"/>
          <p:cNvSpPr txBox="1"/>
          <p:nvPr/>
        </p:nvSpPr>
        <p:spPr>
          <a:xfrm>
            <a:off x="7315200" y="5715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packets outside scope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601200" y="5120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9601200" y="5715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rate-cap breaches</a:t>
            </a:r>
            <a:endParaRPr lang="en-US" sz="13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Bibliography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[1] J. Damas, F. Neves. "Preventing Use of Recursive Nameservers in Reflector Attacks." RFC 5358 (BCP 140), 2008.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[2] C. Rossow. "Amplification Hell: Revisiting Network Protocols for DDoS Abuse." NDSS, 2014.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[3] M. Kührer, T. Hupperich, C. Rossow, T. Holz. "Exit from Hell? Reducing the Impact of Amplification DDoS Attacks." USENIX Security, 2014.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[4] K. Schomp, T. Callahan, M. Rabinovich, M. Allman. "On Measuring the Client-Side DNS Infrastructure." ACM IMC, 2013.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[5] J. Damas, M. Graff, P. Vixie. "Extension Mechanisms for DNS (EDNS(0))." RFC 6891, 2013.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[6] J. Dickinson et al. "DNS Transport over TCP - Implementation Requirements." RFC 7766, 2016.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[7] P. Mockapetris. "Domain Names - Concepts and Facilities." RFC 1034, 1987.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[8] P. Ferguson, D. Senie. "Network Ingress Filtering." RFC 2827 (BCP 38), 2000.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Thank You for Your Attention!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352044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chemeClr val="accent6"/>
                </a:solidFill>
              </a:rPr>
              <a:t>Measure the exposure. Respect the network. Reproduce the result.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Shreyashi Chatterjee  |  Suman Mishra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Team A3-PS012-TC113 | AIORI Hackathon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1645920"/>
            <a:ext cx="3474720" cy="3474720"/>
          </a:xfrm>
          <a:prstGeom prst="ellipse">
            <a:avLst/>
          </a:prstGeom>
          <a:solidFill>
            <a:srgbClr val="0B3A4A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2194560"/>
            <a:ext cx="2377440" cy="2377440"/>
          </a:xfrm>
          <a:prstGeom prst="ellipse">
            <a:avLst/>
          </a:prstGeom>
          <a:solidFill>
            <a:srgbClr val="0B3A4A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743200"/>
            <a:ext cx="1280160" cy="128016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osureLens">
  <a:themeElements>
    <a:clrScheme name="ExposureLens">
      <a:dk1>
        <a:srgbClr val="12232E"/>
      </a:dk1>
      <a:lt1>
        <a:srgbClr val="FFFFFF"/>
      </a:lt1>
      <a:dk2>
        <a:srgbClr val="0B3A4A"/>
      </a:dk2>
      <a:lt2>
        <a:srgbClr val="EAF3F6"/>
      </a:lt2>
      <a:accent1>
        <a:srgbClr val="0E7C86"/>
      </a:accent1>
      <a:accent2>
        <a:srgbClr val="F5A524"/>
      </a:accent2>
      <a:accent3>
        <a:srgbClr val="D1495B"/>
      </a:accent3>
      <a:accent4>
        <a:srgbClr val="5C7C8A"/>
      </a:accent4>
      <a:accent5>
        <a:srgbClr val="2E9E6B"/>
      </a:accent5>
      <a:accent6>
        <a:srgbClr val="8FB8C4"/>
      </a:accent6>
      <a:hlink>
        <a:srgbClr val="0E7C86"/>
      </a:hlink>
      <a:folHlink>
        <a:srgbClr val="5C7C8A"/>
      </a:folHlink>
    </a:clrScheme>
    <a:fontScheme name="ExposureLe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Microsoft Office PowerPoint</Application>
  <PresentationFormat>Widescreen</PresentationFormat>
  <Paragraphs>222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ExposureLens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Shreyashi Chatterjee</cp:lastModifiedBy>
  <cp:revision>1</cp:revision>
  <dcterms:created xsi:type="dcterms:W3CDTF">2026-10-14T15:53:08Z</dcterms:created>
  <dcterms:modified xsi:type="dcterms:W3CDTF">2026-10-14T15:54:17Z</dcterms:modified>
</cp:coreProperties>
</file>